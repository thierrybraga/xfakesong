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Contribuicao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A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899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Mel Spec.</c:v>
                  </c:pt>
                  <c:pt idx="1">
                    <c:v>LFCC</c:v>
                  </c:pt>
                  <c:pt idx="2">
                    <c:v>MFCC</c:v>
                  </c:pt>
                  <c:pt idx="3">
                    <c:v>CQT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31.8</c:v>
                </c:pt>
                <c:pt idx="1">
                  <c:v>24.7</c:v>
                </c:pt>
                <c:pt idx="2">
                  <c:v>22.1</c:v>
                </c:pt>
                <c:pt idx="3">
                  <c:v>21.4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9A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Modular para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Deteccao de Audio Sintetico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Arquiteturas Neurais Hibridas e Analise Empirica de Caracteristicas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87168"/>
            <a:ext cx="41148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334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Thierry Goncalves Braga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017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Orientacao: Prof. Ana Claudia  |  UFSJ — Departamento de Ciencia da Computacao  | 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Projeto: github.com/XFakeSong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895344"/>
            <a:ext cx="1920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CONCLUSAO DE CURSO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Problema: Deepfakes de Audio em Portugues Brasileiro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2834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2834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8755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79 casos documentados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de audio nas eleicoes brasileiras de 2024 (DFRLab)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841248"/>
            <a:ext cx="2834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841248"/>
            <a:ext cx="28346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98755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Humanos acertam 73%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2311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cai para 51% com TTS de ultima geracao (Muller et al., 600 participantes)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841248"/>
            <a:ext cx="28346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841248"/>
            <a:ext cx="28346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98755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200ms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35508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&lt;200ms latencia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2231136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vozes sintéticas em tempo real via RVC v2 — imperceptiveis ao ouvido humano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41330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codigo aberto para deteccao automatica de audio sintetico em PT-BR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Objetivos do Trabalho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923544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pipeline modular open-source para deteccao de audio sintetico em PT-BR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27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168249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 avaliar 5 familias de arquiteturas neurais (Conformer, EfficientNet-LSTM, MultiScale CNN, AASIST, RawNet2) + Ensemble Adaptativo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386584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dataset PT-BR balanceado (BRSpeech-DF) com divisao 70/15/15 e augmentation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3145536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145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Quantificar importancia de caracteristicas acusticas via analise de pesos espectrais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3904488"/>
            <a:ext cx="50292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904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959352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robustez sob ruido AWGN (SNR 10-30dB) e medir eficiencia computacional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Arquitetura do Pipeline XFakeSong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2344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88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325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Entrada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45336" y="1645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46504" y="1051560"/>
            <a:ext cx="12344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46504" y="1088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46504" y="1325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VAD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46504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-23 LUFS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1645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18688" y="1051560"/>
            <a:ext cx="12344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18688" y="1088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18688" y="1325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Extracao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18688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Mel/MFCC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CQT/LFCC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89704" y="1645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1051560"/>
            <a:ext cx="12344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90872" y="1088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90872" y="1325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90872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arquit.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61888" y="1645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1051560"/>
            <a:ext cx="123444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63056" y="1088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63056" y="1325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Ensemble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63056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Eq.27-28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34072" y="1645920"/>
            <a:ext cx="164592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35240" y="1051560"/>
            <a:ext cx="1234440" cy="1188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35240" y="10881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635240" y="13258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35240" y="183794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239572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Conformer desativado (incompatibilidade Keras 3 + raw audio 80k steps) — arquitetura documentada, nao treinada.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278892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Dataset: BRSpeech-DF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16382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amostras PT-BR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bonafide + 300 spoof (1:1)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70/15/15 estratificado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2788920"/>
            <a:ext cx="411480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Pre-processamento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46320" y="3163824"/>
            <a:ext cx="3749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(fallback energia -25dB)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normalizacao RMS -23 LUFS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pitch+-2st, stretch 0.9-1.1x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e Configuracao Experimental (Reais)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1828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41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1536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totais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896112"/>
            <a:ext cx="1828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941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420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286000" y="1536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treino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896112"/>
            <a:ext cx="1828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297680" y="941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90+90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297680" y="1536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+ teste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896112"/>
            <a:ext cx="182880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9360" y="94183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1:1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09360" y="1536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/ fake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029968"/>
          <a:ext cx="8595360" cy="1828800"/>
        </p:xfrm>
        <a:graphic>
          <a:graphicData uri="http://schemas.openxmlformats.org/drawingml/2006/table">
            <a:tbl>
              <a:tblPr/>
              <a:tblGrid>
                <a:gridCol w="2103120"/>
                <a:gridCol w="649224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2.21 + Keras 3, Python 3.11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(sem GPU — limitacao de ambiente)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(quick) | Early stopping paciencia=10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| Optimizer: Adam lr=0,001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Pitch +-2 semitons + Time stretch 0,9-1,1x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Acuracia, EER (scipy brentq), AUC-ROC (sklearn)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 por Arquitetura — Tabela 3 (Dados Reais)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333756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914400"/>
                <a:gridCol w="1005840"/>
                <a:gridCol w="1097280"/>
                <a:gridCol w="2286000"/>
              </a:tblGrid>
              <a:tr h="5562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Acuracia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MultiscaleCNN (Res2Net-50)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133,7ms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desempenho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Adaptativo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48,1ms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latencia util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EfficientNet-LSTM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63,8ms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 convergiu (CPU)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AASIST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89,0ms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 convergiu (CPU)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RawNet2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156,4ms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 convergiu (CPU)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3159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convergiu  |  Vermelho = nao convergiu (CPU sem GPU, dataset &lt;2.000 amostras)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Analise: Frontends Espectrais vs. Audio Bruto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11480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41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CONVERGIRAM  (Spectrograma)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316736"/>
            <a:ext cx="384048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MultiscaleCNN (Res2Net-50)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STFT -&gt; Mel spectrogram -&gt; CNN 2D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97,8% acc | EER 5,6%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Adaptativo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Mel+LFCC+CQT+MFCC+Mel2 -&gt; CNN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91,1% acc | EER 13,3%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4114800" cy="3337560"/>
          </a:xfrm>
          <a:prstGeom prst="rect">
            <a:avLst/>
          </a:prstGeom>
          <a:solidFill>
            <a:srgbClr val="FFFFFF"/>
          </a:solidFill>
          <a:ln w="254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411480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841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NAO CONVERGIRAM  (Audio Bruto)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316736"/>
            <a:ext cx="384048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EfficientNet-LSTM  |  AASIST  |  RawNet2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50% acc (acaso)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nao convergiram?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Sequencias de 16.000 pontos (audio bruto)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AASIST: SincConv+GAT exige GPU + &gt;5.000 amostras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RawNet2: GRU sobre PCM e lento sem GPU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Literatura: AASIST EER 0,83% com ASVspoof2019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87468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XFakeSong | UFSJ 2026 | Thierry Goncalves Braga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Robustez sob Ruido AWGN e Importancia Espectral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804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5: Robustez — Acuracia (%)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5029200" cy="141732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822960"/>
                <a:gridCol w="73152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Arquitetura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30dB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20dB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SNR 10dB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MultiscaleCNN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5786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MultiscaleCNN mais robusto a ruido. Ensemble degrada em SNR&lt;=20dB — augmentation com ruido e necessario.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486400" y="8046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4: Contribuicao dos Ramos (Ensemble)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394960" y="1051560"/>
          <a:ext cx="33832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8"/>
          <p:cNvSpPr/>
          <p:nvPr/>
        </p:nvSpPr>
        <p:spPr>
          <a:xfrm>
            <a:off x="5394960" y="3035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 Spectrogram domina (31,8%) — artefatos visuais de vocoder em &gt;4kHz [2,22]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274320" y="3063240"/>
            <a:ext cx="493776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11480" y="3090672"/>
            <a:ext cx="4663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PRINCIPAL: Representacoes espectrais (mel spectrogram) convergem em datasets pequenos. Audio bruto requer GPU + 5.000+ amostras.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2560320"/>
          </a:xfrm>
          <a:prstGeom prst="rect">
            <a:avLst/>
          </a:prstGeom>
          <a:solidFill>
            <a:srgbClr val="065A82">
              <a:alpha val="8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DEMONSTRACAO AO VIVO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XFakeSong — Interface Gradio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Carregar audio real (voz humana)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Carregar audio sintetico (BRSpeech-DF spoof)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Executar pipeline: VAD -&gt; AGC -&gt; MultiscaleCNN -&gt; Score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Comparar scores: P(fake) real vs. P(fake) sintetico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Visualizar interpretabilidade (espectrograma mel)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7490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9A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app/gradio_app.py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Conclusoes e Trabalhos Futuros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07008"/>
            <a:ext cx="4114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MultiscaleCNN: 97,8% acc, EER 5,6% com 420 amostras em CPU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Adaptativo: 91,1% acc, 48ms latencia — adequado para tempo real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Frontends espectrais convergem melhor em datasets pequenos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XFakeSong: codigo aberto, modular, reproducivel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TRABALHOS FUTUROS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1207008"/>
            <a:ext cx="4114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dataset para ASVspoof 2021 LA + ASVSPOOF 5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AASIST/RawNet2 com GPU (&gt;5.000 amostras)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com ruido AWGN no treino (robustez)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Avaliacao cross-generator: VALL-E, Bark, Tacotron2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3977640"/>
            <a:ext cx="9144000" cy="1165860"/>
          </a:xfrm>
          <a:prstGeom prst="rect">
            <a:avLst/>
          </a:prstGeom>
          <a:solidFill>
            <a:srgbClr val="091C2E"/>
          </a:solidFill>
          <a:ln w="12700">
            <a:solidFill>
              <a:srgbClr val="091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9A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Obrigado! Perguntas?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Thierry Goncalves Braga | github.com/XFakeSong | UFSJ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Modular para Deteccao de Audio Sintetico — Defesa TCC UFSJ 2026</dc:title>
  <dc:subject>TCC UFSJ 2026</dc:subject>
  <dc:creator>Thierry Goncalves Braga</dc:creator>
  <cp:lastModifiedBy>Thierry Goncalves Braga</cp:lastModifiedBy>
  <cp:revision>1</cp:revision>
  <dcterms:created xsi:type="dcterms:W3CDTF">2026-04-12T14:42:37Z</dcterms:created>
  <dcterms:modified xsi:type="dcterms:W3CDTF">2026-04-12T14:42:37Z</dcterms:modified>
</cp:coreProperties>
</file>